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notesMasterIdLst>
    <p:notesMasterId r:id="rId12"/>
  </p:notesMasterIdLst>
  <p:sldIdLst>
    <p:sldId id="256" r:id="rId2"/>
    <p:sldId id="257" r:id="rId3"/>
    <p:sldId id="258" r:id="rId4"/>
    <p:sldId id="265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embeddedFontLst>
    <p:embeddedFont>
      <p:font typeface="Lato" panose="020F0502020204030203" pitchFamily="34" charset="0"/>
      <p:regular r:id="rId13"/>
      <p:bold r:id="rId14"/>
      <p:italic r:id="rId15"/>
      <p:boldItalic r:id="rId16"/>
    </p:embeddedFont>
    <p:embeddedFont>
      <p:font typeface="Montserrat" panose="00000500000000000000" pitchFamily="2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8f201fedef_0_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8f201fedef_0_20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g38f201fedef_0_20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985007146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9850071467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g39850071467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9850071467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9850071467_0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g39850071467_0_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>
          <a:extLst>
            <a:ext uri="{FF2B5EF4-FFF2-40B4-BE49-F238E27FC236}">
              <a16:creationId xmlns:a16="http://schemas.microsoft.com/office/drawing/2014/main" id="{A11CE94E-2D10-F230-36A7-F48068C17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9850071467_0_6:notes">
            <a:extLst>
              <a:ext uri="{FF2B5EF4-FFF2-40B4-BE49-F238E27FC236}">
                <a16:creationId xmlns:a16="http://schemas.microsoft.com/office/drawing/2014/main" id="{89C18D40-B7AB-1DE1-DDF7-A851E15E98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9850071467_0_6:notes">
            <a:extLst>
              <a:ext uri="{FF2B5EF4-FFF2-40B4-BE49-F238E27FC236}">
                <a16:creationId xmlns:a16="http://schemas.microsoft.com/office/drawing/2014/main" id="{20D56DF4-2F9B-F3BA-DE5B-2B5F21BE13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g39850071467_0_6:notes">
            <a:extLst>
              <a:ext uri="{FF2B5EF4-FFF2-40B4-BE49-F238E27FC236}">
                <a16:creationId xmlns:a16="http://schemas.microsoft.com/office/drawing/2014/main" id="{B75A0A35-78EA-46CA-299D-33CA263EAFA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535792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8f201fedef_1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8f201fedef_1_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8f201fedef_1_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8f201fedef_1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8f201fedef_1_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g38f201fedef_1_4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8f201fedef_1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8f201fedef_1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8f201fedef_1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8f201fedef_1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3c4224bece_0_5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3c4224bece_0_5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093c8a57ff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093c8a57ff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10000500" y="673"/>
            <a:ext cx="2191500" cy="21915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654"/>
            <a:ext cx="6871435" cy="6845694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4716200" y="2104533"/>
            <a:ext cx="6690000" cy="2105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6778600" y="5233233"/>
            <a:ext cx="4627500" cy="674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5875053" y="0"/>
            <a:ext cx="6316642" cy="6857248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1098467" y="2737333"/>
            <a:ext cx="6116100" cy="15315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730000" y="525000"/>
            <a:ext cx="9385200" cy="1218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730000" y="2090067"/>
            <a:ext cx="9385200" cy="3881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730000" y="525000"/>
            <a:ext cx="9385200" cy="1218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730000" y="2090067"/>
            <a:ext cx="4537500" cy="3881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6577628" y="2090067"/>
            <a:ext cx="4537500" cy="3881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730000" y="525000"/>
            <a:ext cx="9385200" cy="1218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730000" y="525000"/>
            <a:ext cx="5065200" cy="1990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730000" y="2630067"/>
            <a:ext cx="5065200" cy="3221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5875053" y="0"/>
            <a:ext cx="6316642" cy="6857829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1098467" y="1155700"/>
            <a:ext cx="6116100" cy="469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730000" y="2211100"/>
            <a:ext cx="4048500" cy="2335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730000" y="4717333"/>
            <a:ext cx="4048500" cy="674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6197600" y="2262133"/>
            <a:ext cx="4902300" cy="3129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5504636"/>
            <a:ext cx="931877" cy="912853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1083633" y="5740500"/>
            <a:ext cx="9248100" cy="698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5875053" y="0"/>
            <a:ext cx="6316642" cy="6857248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1098467" y="1712900"/>
            <a:ext cx="6368100" cy="1734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1pPr>
            <a:lvl2pPr lvl="1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2pPr>
            <a:lvl3pPr lvl="2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3pPr>
            <a:lvl4pPr lvl="3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4pPr>
            <a:lvl5pPr lvl="4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5pPr>
            <a:lvl6pPr lvl="5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6pPr>
            <a:lvl7pPr lvl="6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7pPr>
            <a:lvl8pPr lvl="7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8pPr>
            <a:lvl9pPr lvl="8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1098467" y="3524166"/>
            <a:ext cx="6368100" cy="1625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 txBox="1">
            <a:spLocks noGrp="1"/>
          </p:cNvSpPr>
          <p:nvPr>
            <p:ph type="title"/>
          </p:nvPr>
        </p:nvSpPr>
        <p:spPr>
          <a:xfrm>
            <a:off x="1154954" y="973668"/>
            <a:ext cx="8761500" cy="7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13"/>
          <p:cNvSpPr txBox="1">
            <a:spLocks noGrp="1"/>
          </p:cNvSpPr>
          <p:nvPr>
            <p:ph type="body" idx="1"/>
          </p:nvPr>
        </p:nvSpPr>
        <p:spPr>
          <a:xfrm>
            <a:off x="1154954" y="2603500"/>
            <a:ext cx="8825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●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○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■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●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○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■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●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○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■"/>
              <a:defRPr/>
            </a:lvl9pPr>
          </a:lstStyle>
          <a:p>
            <a:endParaRPr/>
          </a:p>
        </p:txBody>
      </p:sp>
      <p:sp>
        <p:nvSpPr>
          <p:cNvPr id="133" name="Google Shape;133;p13"/>
          <p:cNvSpPr txBox="1">
            <a:spLocks noGrp="1"/>
          </p:cNvSpPr>
          <p:nvPr>
            <p:ph type="dt" idx="10"/>
          </p:nvPr>
        </p:nvSpPr>
        <p:spPr>
          <a:xfrm>
            <a:off x="10653104" y="6391838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13"/>
          <p:cNvSpPr txBox="1">
            <a:spLocks noGrp="1"/>
          </p:cNvSpPr>
          <p:nvPr>
            <p:ph type="ftr" idx="11"/>
          </p:nvPr>
        </p:nvSpPr>
        <p:spPr>
          <a:xfrm>
            <a:off x="561110" y="6391838"/>
            <a:ext cx="3859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13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">
  <p:cSld name="OBJECT_1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4"/>
          <p:cNvSpPr txBox="1">
            <a:spLocks noGrp="1"/>
          </p:cNvSpPr>
          <p:nvPr>
            <p:ph type="title"/>
          </p:nvPr>
        </p:nvSpPr>
        <p:spPr>
          <a:xfrm>
            <a:off x="1154954" y="973668"/>
            <a:ext cx="8761500" cy="7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14"/>
          <p:cNvSpPr txBox="1">
            <a:spLocks noGrp="1"/>
          </p:cNvSpPr>
          <p:nvPr>
            <p:ph type="body" idx="1"/>
          </p:nvPr>
        </p:nvSpPr>
        <p:spPr>
          <a:xfrm>
            <a:off x="1154954" y="2603500"/>
            <a:ext cx="8825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●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○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■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●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○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■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●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○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■"/>
              <a:defRPr/>
            </a:lvl9pPr>
          </a:lstStyle>
          <a:p>
            <a:endParaRPr/>
          </a:p>
        </p:txBody>
      </p:sp>
      <p:sp>
        <p:nvSpPr>
          <p:cNvPr id="139" name="Google Shape;139;p14"/>
          <p:cNvSpPr txBox="1">
            <a:spLocks noGrp="1"/>
          </p:cNvSpPr>
          <p:nvPr>
            <p:ph type="dt" idx="10"/>
          </p:nvPr>
        </p:nvSpPr>
        <p:spPr>
          <a:xfrm>
            <a:off x="10653104" y="6391838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14"/>
          <p:cNvSpPr txBox="1">
            <a:spLocks noGrp="1"/>
          </p:cNvSpPr>
          <p:nvPr>
            <p:ph type="ftr" idx="11"/>
          </p:nvPr>
        </p:nvSpPr>
        <p:spPr>
          <a:xfrm>
            <a:off x="561110" y="6391838"/>
            <a:ext cx="3859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14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0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3" name="Google Shape;143;p15"/>
          <p:cNvCxnSpPr/>
          <p:nvPr/>
        </p:nvCxnSpPr>
        <p:spPr>
          <a:xfrm>
            <a:off x="-96733" y="6503267"/>
            <a:ext cx="123831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4" name="Google Shape;144;p15"/>
          <p:cNvCxnSpPr/>
          <p:nvPr/>
        </p:nvCxnSpPr>
        <p:spPr>
          <a:xfrm>
            <a:off x="-96733" y="365467"/>
            <a:ext cx="123831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ato"/>
              <a:buChar char="●"/>
              <a:defRPr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○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■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○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■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○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■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6"/>
          <p:cNvSpPr txBox="1">
            <a:spLocks noGrp="1"/>
          </p:cNvSpPr>
          <p:nvPr>
            <p:ph type="title"/>
          </p:nvPr>
        </p:nvSpPr>
        <p:spPr>
          <a:xfrm>
            <a:off x="288750" y="278600"/>
            <a:ext cx="9601200" cy="798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to Write Interview Questions</a:t>
            </a:r>
            <a:endParaRPr/>
          </a:p>
        </p:txBody>
      </p:sp>
      <p:sp>
        <p:nvSpPr>
          <p:cNvPr id="151" name="Google Shape;151;p16"/>
          <p:cNvSpPr txBox="1">
            <a:spLocks noGrp="1"/>
          </p:cNvSpPr>
          <p:nvPr>
            <p:ph type="body" idx="1"/>
          </p:nvPr>
        </p:nvSpPr>
        <p:spPr>
          <a:xfrm>
            <a:off x="678875" y="1176025"/>
            <a:ext cx="10967100" cy="5061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marL="0" lvl="0" indent="0" algn="l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 dirty="0"/>
              <a:t>Identify the focus of your interview</a:t>
            </a:r>
            <a:endParaRPr sz="2400" dirty="0"/>
          </a:p>
          <a:p>
            <a:pPr marL="914400" lvl="0" indent="-369569" algn="l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n-US" sz="2400" dirty="0"/>
              <a:t>Who is invested in the topic?</a:t>
            </a:r>
            <a:endParaRPr sz="2400" dirty="0"/>
          </a:p>
          <a:p>
            <a:pPr marL="1371600" lvl="1" indent="-369569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US" sz="2400" dirty="0"/>
              <a:t>What perspectives are not yet covered in your research?</a:t>
            </a:r>
            <a:endParaRPr sz="2400" dirty="0"/>
          </a:p>
          <a:p>
            <a:pPr marL="1371600" lvl="1" indent="-369569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US" sz="2400" dirty="0"/>
              <a:t>What makes someone an expert?</a:t>
            </a:r>
            <a:endParaRPr sz="2400" dirty="0"/>
          </a:p>
          <a:p>
            <a:pPr marL="914400" lvl="0" indent="-369569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2400" dirty="0"/>
              <a:t>What is being done locally about your topic?</a:t>
            </a:r>
            <a:endParaRPr sz="2400" dirty="0"/>
          </a:p>
          <a:p>
            <a:pPr marL="1371600" lvl="1" indent="-369569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US" sz="2400" dirty="0"/>
              <a:t>City initiatives</a:t>
            </a:r>
            <a:endParaRPr sz="2400" dirty="0"/>
          </a:p>
          <a:p>
            <a:pPr marL="1371600" lvl="1" indent="-369569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US" sz="2400" dirty="0"/>
              <a:t>Clubs, organizations, and nonprofits</a:t>
            </a:r>
            <a:endParaRPr sz="2400" dirty="0"/>
          </a:p>
          <a:p>
            <a:pPr marL="1371600" lvl="1" indent="-369569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US" sz="2400" dirty="0"/>
              <a:t>Research</a:t>
            </a:r>
            <a:endParaRPr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>
            <a:spLocks noGrp="1"/>
          </p:cNvSpPr>
          <p:nvPr>
            <p:ph type="title"/>
          </p:nvPr>
        </p:nvSpPr>
        <p:spPr>
          <a:xfrm>
            <a:off x="704275" y="427400"/>
            <a:ext cx="9601200" cy="798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to Write Interview Questions</a:t>
            </a:r>
            <a:endParaRPr/>
          </a:p>
        </p:txBody>
      </p:sp>
      <p:sp>
        <p:nvSpPr>
          <p:cNvPr id="158" name="Google Shape;158;p17"/>
          <p:cNvSpPr txBox="1">
            <a:spLocks noGrp="1"/>
          </p:cNvSpPr>
          <p:nvPr>
            <p:ph type="body" idx="1"/>
          </p:nvPr>
        </p:nvSpPr>
        <p:spPr>
          <a:xfrm>
            <a:off x="704275" y="1751700"/>
            <a:ext cx="10967100" cy="4746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Brainstorm things you want to know about that topic:</a:t>
            </a:r>
            <a:endParaRPr sz="2400"/>
          </a:p>
          <a:p>
            <a:pPr marL="914400" lvl="0" indent="-381000" algn="l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What got them involved in the topic?</a:t>
            </a:r>
            <a:endParaRPr sz="2400"/>
          </a:p>
          <a:p>
            <a:pPr marL="914400" lvl="0" indent="-3810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What challenges did they face?</a:t>
            </a:r>
            <a:endParaRPr sz="2400"/>
          </a:p>
          <a:p>
            <a:pPr marL="914400" lvl="0" indent="-3810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What changes are happening, good or bad?</a:t>
            </a:r>
            <a:endParaRPr sz="2400"/>
          </a:p>
          <a:p>
            <a:pPr marL="914400" lvl="0" indent="-3810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What misconceptions do they want to clear up?</a:t>
            </a:r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>
            <a:spLocks noGrp="1"/>
          </p:cNvSpPr>
          <p:nvPr>
            <p:ph type="title"/>
          </p:nvPr>
        </p:nvSpPr>
        <p:spPr>
          <a:xfrm>
            <a:off x="704275" y="576200"/>
            <a:ext cx="9601200" cy="798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to Write Interview Questions</a:t>
            </a:r>
            <a:endParaRPr/>
          </a:p>
        </p:txBody>
      </p:sp>
      <p:sp>
        <p:nvSpPr>
          <p:cNvPr id="165" name="Google Shape;165;p18"/>
          <p:cNvSpPr txBox="1">
            <a:spLocks noGrp="1"/>
          </p:cNvSpPr>
          <p:nvPr>
            <p:ph type="body" idx="1"/>
          </p:nvPr>
        </p:nvSpPr>
        <p:spPr>
          <a:xfrm>
            <a:off x="704275" y="1690825"/>
            <a:ext cx="10967100" cy="4807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Ask varied questions, but keep them open-ended</a:t>
            </a:r>
            <a:endParaRPr sz="2400"/>
          </a:p>
          <a:p>
            <a:pPr marL="914400" lvl="0" indent="-381000" algn="l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Try not to ask “yes” or “no” questions</a:t>
            </a:r>
            <a:endParaRPr sz="2400"/>
          </a:p>
          <a:p>
            <a:pPr marL="914400" lvl="0" indent="-3810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OR write some potential follow-up questions depending on “yes” or “no”</a:t>
            </a:r>
            <a:endParaRPr sz="2400"/>
          </a:p>
          <a:p>
            <a:pPr marL="914400" lvl="0" indent="-3810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Ask them to tell you a story</a:t>
            </a:r>
            <a:endParaRPr sz="2400"/>
          </a:p>
          <a:p>
            <a:pPr marL="914400" lvl="0" indent="-3810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Ask them to define terms or explain complex ideas</a:t>
            </a:r>
            <a:endParaRPr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>
          <a:extLst>
            <a:ext uri="{FF2B5EF4-FFF2-40B4-BE49-F238E27FC236}">
              <a16:creationId xmlns:a16="http://schemas.microsoft.com/office/drawing/2014/main" id="{F171FC81-A47A-6CCA-4548-F68A438A7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>
            <a:extLst>
              <a:ext uri="{FF2B5EF4-FFF2-40B4-BE49-F238E27FC236}">
                <a16:creationId xmlns:a16="http://schemas.microsoft.com/office/drawing/2014/main" id="{2DB03047-BA64-1F1D-8BC5-5D87D5A7CF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4275" y="576200"/>
            <a:ext cx="9601200" cy="798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to Write Interview Questions</a:t>
            </a:r>
            <a:endParaRPr/>
          </a:p>
        </p:txBody>
      </p:sp>
      <p:sp>
        <p:nvSpPr>
          <p:cNvPr id="165" name="Google Shape;165;p18">
            <a:extLst>
              <a:ext uri="{FF2B5EF4-FFF2-40B4-BE49-F238E27FC236}">
                <a16:creationId xmlns:a16="http://schemas.microsoft.com/office/drawing/2014/main" id="{F38B5015-7F2B-AF6D-228C-D0D0ED6692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4275" y="1690825"/>
            <a:ext cx="10967100" cy="4807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Try to ask at least one question from each category:</a:t>
            </a:r>
            <a:endParaRPr sz="2400" dirty="0"/>
          </a:p>
          <a:p>
            <a:pPr lvl="1" fontAlgn="base"/>
            <a:r>
              <a:rPr lang="en-US" sz="2200" dirty="0"/>
              <a:t>Descriptive (“What’s happening?”)</a:t>
            </a:r>
          </a:p>
          <a:p>
            <a:pPr lvl="1" fontAlgn="base"/>
            <a:r>
              <a:rPr lang="en-US" sz="2200" dirty="0"/>
              <a:t>Interpretive (“Why is it happening?”)</a:t>
            </a:r>
          </a:p>
          <a:p>
            <a:pPr lvl="1" fontAlgn="base"/>
            <a:r>
              <a:rPr lang="en-US" sz="2200" dirty="0"/>
              <a:t>Reflective (“How do you think it could change?”)</a:t>
            </a:r>
          </a:p>
        </p:txBody>
      </p:sp>
    </p:spTree>
    <p:extLst>
      <p:ext uri="{BB962C8B-B14F-4D97-AF65-F5344CB8AC3E}">
        <p14:creationId xmlns:p14="http://schemas.microsoft.com/office/powerpoint/2010/main" val="1006922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"/>
          <p:cNvSpPr txBox="1">
            <a:spLocks noGrp="1"/>
          </p:cNvSpPr>
          <p:nvPr>
            <p:ph type="title"/>
          </p:nvPr>
        </p:nvSpPr>
        <p:spPr>
          <a:xfrm>
            <a:off x="1371600" y="228600"/>
            <a:ext cx="9601200" cy="768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Asking to observe a gathering…</a:t>
            </a:r>
            <a:endParaRPr/>
          </a:p>
        </p:txBody>
      </p:sp>
      <p:sp>
        <p:nvSpPr>
          <p:cNvPr id="172" name="Google Shape;172;p19"/>
          <p:cNvSpPr txBox="1">
            <a:spLocks noGrp="1"/>
          </p:cNvSpPr>
          <p:nvPr>
            <p:ph type="body" idx="1"/>
          </p:nvPr>
        </p:nvSpPr>
        <p:spPr>
          <a:xfrm>
            <a:off x="1371600" y="996600"/>
            <a:ext cx="9601200" cy="5501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935"/>
              <a:buNone/>
            </a:pPr>
            <a:r>
              <a:rPr lang="en-US" sz="1900" dirty="0"/>
              <a:t>Hello [Name],</a:t>
            </a:r>
            <a:endParaRPr sz="1900" dirty="0"/>
          </a:p>
          <a:p>
            <a:pPr marL="0" lvl="0" indent="0" algn="l" rtl="0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935"/>
              <a:buNone/>
            </a:pPr>
            <a:endParaRPr sz="1900" dirty="0"/>
          </a:p>
          <a:p>
            <a:pPr marL="0" lvl="0" indent="0" algn="l" rtl="0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935"/>
              <a:buNone/>
            </a:pPr>
            <a:r>
              <a:rPr lang="en-US" sz="1900" dirty="0"/>
              <a:t>I am writing a research paper for a class at Iowa State University over [topic] and I would love the opportunity to observe [organization, committee, etc.] during one of your meetings.</a:t>
            </a:r>
            <a:endParaRPr sz="1900" dirty="0"/>
          </a:p>
          <a:p>
            <a:pPr marL="0" lvl="0" indent="0" algn="l" rtl="0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935"/>
              <a:buNone/>
            </a:pPr>
            <a:endParaRPr sz="1900" dirty="0"/>
          </a:p>
          <a:p>
            <a:pPr marL="0" lvl="0" indent="0" algn="l" rtl="0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935"/>
              <a:buNone/>
            </a:pPr>
            <a:r>
              <a:rPr lang="en-US" sz="1900" i="1" dirty="0"/>
              <a:t>If possible, I would love to record the meeting for accurate note-taking. However, if this is not possible, I would be happy to just take notes based on what I’ve observed.</a:t>
            </a:r>
            <a:endParaRPr sz="1900" i="1" dirty="0"/>
          </a:p>
          <a:p>
            <a:pPr marL="0" lvl="0" indent="0" algn="l" rtl="0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935"/>
              <a:buNone/>
            </a:pPr>
            <a:endParaRPr sz="1900" dirty="0"/>
          </a:p>
          <a:p>
            <a:pPr marL="0" lvl="0" indent="0" algn="l" rtl="0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935"/>
              <a:buNone/>
            </a:pPr>
            <a:r>
              <a:rPr lang="en-US" sz="1900" dirty="0"/>
              <a:t>Please let me know if I would be able to sit in on a meeting and, if so, when the best time to meet would be. Thank you for your time!</a:t>
            </a:r>
            <a:endParaRPr sz="1900" dirty="0"/>
          </a:p>
          <a:p>
            <a:pPr marL="0" lvl="0" indent="0" algn="l" rtl="0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935"/>
              <a:buNone/>
            </a:pPr>
            <a:endParaRPr sz="1900" dirty="0"/>
          </a:p>
          <a:p>
            <a:pPr marL="0" lvl="0" indent="0" algn="l" rtl="0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935"/>
              <a:buNone/>
            </a:pPr>
            <a:r>
              <a:rPr lang="en-US" sz="1900" dirty="0"/>
              <a:t>Best,</a:t>
            </a:r>
            <a:endParaRPr sz="1900" dirty="0"/>
          </a:p>
          <a:p>
            <a:pPr marL="0" lvl="0" indent="0" algn="l" rtl="0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935"/>
              <a:buNone/>
            </a:pPr>
            <a:endParaRPr sz="1900" dirty="0"/>
          </a:p>
          <a:p>
            <a:pPr marL="0" lvl="0" indent="0" algn="l" rtl="0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935"/>
              <a:buNone/>
            </a:pPr>
            <a:r>
              <a:rPr lang="en-US" sz="1900" dirty="0"/>
              <a:t>[Your name]</a:t>
            </a:r>
            <a:endParaRPr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0"/>
          <p:cNvSpPr txBox="1">
            <a:spLocks noGrp="1"/>
          </p:cNvSpPr>
          <p:nvPr>
            <p:ph type="title"/>
          </p:nvPr>
        </p:nvSpPr>
        <p:spPr>
          <a:xfrm>
            <a:off x="843350" y="501800"/>
            <a:ext cx="9601200" cy="798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to Prepare for Observations</a:t>
            </a:r>
            <a:endParaRPr/>
          </a:p>
        </p:txBody>
      </p:sp>
      <p:sp>
        <p:nvSpPr>
          <p:cNvPr id="179" name="Google Shape;179;p20"/>
          <p:cNvSpPr txBox="1">
            <a:spLocks noGrp="1"/>
          </p:cNvSpPr>
          <p:nvPr>
            <p:ph type="body" idx="1"/>
          </p:nvPr>
        </p:nvSpPr>
        <p:spPr>
          <a:xfrm>
            <a:off x="980675" y="1555550"/>
            <a:ext cx="10690800" cy="494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457200" lvl="0" indent="-369570" algn="l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n-US" sz="2400"/>
              <a:t>Create a system for note-taking </a:t>
            </a:r>
            <a:r>
              <a:rPr lang="en-US" sz="2400" i="1"/>
              <a:t>even if you’re recording</a:t>
            </a:r>
            <a:endParaRPr sz="2400"/>
          </a:p>
          <a:p>
            <a:pPr marL="457200" lvl="0" indent="-369570" algn="l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n-US" sz="2400"/>
              <a:t>Make a list of questions you hope to answer through the observation</a:t>
            </a:r>
            <a:endParaRPr sz="2400"/>
          </a:p>
          <a:p>
            <a:pPr marL="742950" lvl="1" indent="-198119" algn="l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○"/>
            </a:pPr>
            <a:r>
              <a:rPr lang="en-US" sz="2400"/>
              <a:t>Ex. “What do they see as most important?”</a:t>
            </a:r>
            <a:endParaRPr sz="2400"/>
          </a:p>
          <a:p>
            <a:pPr marL="742950" lvl="1" indent="-198119" algn="l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○"/>
            </a:pPr>
            <a:r>
              <a:rPr lang="en-US" sz="2400"/>
              <a:t>Ex. “What initiatives are they working on right now?”</a:t>
            </a:r>
            <a:endParaRPr sz="2400"/>
          </a:p>
          <a:p>
            <a:pPr marL="457200" lvl="0" indent="-369570" algn="l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n-US" sz="2400"/>
              <a:t>Observe reactions, tone, handouts, etc. as well as what’s directly stated</a:t>
            </a:r>
            <a:endParaRPr sz="2400"/>
          </a:p>
          <a:p>
            <a:pPr marL="742950" lvl="1" indent="-198119" algn="l" rtl="0">
              <a:lnSpc>
                <a:spcPct val="200000"/>
              </a:lnSpc>
              <a:spcBef>
                <a:spcPts val="1000"/>
              </a:spcBef>
              <a:spcAft>
                <a:spcPts val="1000"/>
              </a:spcAft>
              <a:buSzPct val="100000"/>
              <a:buChar char="○"/>
            </a:pPr>
            <a:r>
              <a:rPr lang="en-US" sz="2400"/>
              <a:t>Just make sure it’s clear this is your perception of what happened in the notes</a:t>
            </a:r>
            <a:endParaRPr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1"/>
          <p:cNvSpPr txBox="1">
            <a:spLocks noGrp="1"/>
          </p:cNvSpPr>
          <p:nvPr>
            <p:ph type="title"/>
          </p:nvPr>
        </p:nvSpPr>
        <p:spPr>
          <a:xfrm>
            <a:off x="1154950" y="473175"/>
            <a:ext cx="9498600" cy="707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For both interviews and observations…</a:t>
            </a:r>
            <a:endParaRPr/>
          </a:p>
        </p:txBody>
      </p:sp>
      <p:sp>
        <p:nvSpPr>
          <p:cNvPr id="185" name="Google Shape;185;p21"/>
          <p:cNvSpPr txBox="1">
            <a:spLocks noGrp="1"/>
          </p:cNvSpPr>
          <p:nvPr>
            <p:ph type="body" idx="1"/>
          </p:nvPr>
        </p:nvSpPr>
        <p:spPr>
          <a:xfrm>
            <a:off x="1154950" y="1805800"/>
            <a:ext cx="10241100" cy="4538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457200" lvl="0" indent="-351790" algn="l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1940"/>
              <a:buChar char="●"/>
            </a:pPr>
            <a:r>
              <a:rPr lang="en-US" sz="2200"/>
              <a:t>Don’t be afraid to email with follow-up questions or clarifications</a:t>
            </a:r>
            <a:endParaRPr sz="2200"/>
          </a:p>
          <a:p>
            <a:pPr marL="457200" lvl="0" indent="-351790" algn="l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1940"/>
              <a:buChar char="●"/>
            </a:pPr>
            <a:r>
              <a:rPr lang="en-US" sz="2200"/>
              <a:t>Make sure you email one last time when you’re done, thanking them for their time</a:t>
            </a:r>
            <a:endParaRPr sz="2200"/>
          </a:p>
          <a:p>
            <a:pPr marL="914400" lvl="1" indent="-368300" algn="l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2200"/>
              <a:buChar char="○"/>
            </a:pPr>
            <a:r>
              <a:rPr lang="en-US" sz="2200" i="1"/>
              <a:t>Optional: Send them your final paper in the thank you email so they can see where they fit into the project</a:t>
            </a:r>
            <a:endParaRPr sz="2200" i="1"/>
          </a:p>
          <a:p>
            <a:pPr marL="457200" lvl="0" indent="-351790" algn="l" rtl="0">
              <a:lnSpc>
                <a:spcPct val="200000"/>
              </a:lnSpc>
              <a:spcBef>
                <a:spcPts val="1000"/>
              </a:spcBef>
              <a:spcAft>
                <a:spcPts val="1000"/>
              </a:spcAft>
              <a:buSzPts val="1940"/>
              <a:buChar char="●"/>
            </a:pPr>
            <a:r>
              <a:rPr lang="en-US" sz="2200"/>
              <a:t>Only cite direct quotes if you’re confident they’re accurate, otherwise paraphrase (still needs a parenthetical)</a:t>
            </a:r>
            <a:endParaRPr sz="2200" i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2"/>
          <p:cNvSpPr/>
          <p:nvPr/>
        </p:nvSpPr>
        <p:spPr>
          <a:xfrm>
            <a:off x="1118500" y="4572875"/>
            <a:ext cx="9961200" cy="2045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1" name="Google Shape;191;p22"/>
          <p:cNvSpPr/>
          <p:nvPr/>
        </p:nvSpPr>
        <p:spPr>
          <a:xfrm>
            <a:off x="1118500" y="1696925"/>
            <a:ext cx="9961200" cy="1386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2" name="Google Shape;192;p22"/>
          <p:cNvSpPr txBox="1">
            <a:spLocks noGrp="1"/>
          </p:cNvSpPr>
          <p:nvPr>
            <p:ph type="title"/>
          </p:nvPr>
        </p:nvSpPr>
        <p:spPr>
          <a:xfrm>
            <a:off x="1154954" y="233243"/>
            <a:ext cx="8761500" cy="707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Citing Interviews and Observations</a:t>
            </a:r>
            <a:endParaRPr/>
          </a:p>
        </p:txBody>
      </p:sp>
      <p:sp>
        <p:nvSpPr>
          <p:cNvPr id="193" name="Google Shape;193;p22"/>
          <p:cNvSpPr txBox="1">
            <a:spLocks noGrp="1"/>
          </p:cNvSpPr>
          <p:nvPr>
            <p:ph type="body" idx="1"/>
          </p:nvPr>
        </p:nvSpPr>
        <p:spPr>
          <a:xfrm>
            <a:off x="1154950" y="1084675"/>
            <a:ext cx="9961200" cy="5553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200" b="1" dirty="0"/>
              <a:t>Interview</a:t>
            </a:r>
            <a:r>
              <a:rPr lang="en-US" sz="2000" dirty="0"/>
              <a:t>:</a:t>
            </a:r>
            <a:endParaRPr sz="20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666666"/>
                </a:solidFill>
              </a:rPr>
              <a:t>Smith, Jane. Personal interview. 19 May 2024.</a:t>
            </a:r>
            <a:endParaRPr sz="2000" dirty="0"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666666"/>
                </a:solidFill>
              </a:rPr>
              <a:t>[Name of person being interviewed]. Personal interview. [Date interview was </a:t>
            </a:r>
            <a:endParaRPr sz="2000" dirty="0">
              <a:solidFill>
                <a:srgbClr val="666666"/>
              </a:solidFill>
            </a:endParaRPr>
          </a:p>
          <a:p>
            <a:pPr marL="0" lvl="0" indent="45720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666666"/>
                </a:solidFill>
              </a:rPr>
              <a:t>conducted].</a:t>
            </a:r>
            <a:endParaRPr sz="2000" dirty="0"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 dirty="0"/>
              <a:t>* The date should be the date of their response, if completed asynchronously</a:t>
            </a:r>
            <a:endParaRPr sz="20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200" b="1" dirty="0"/>
              <a:t>Observation</a:t>
            </a:r>
            <a:r>
              <a:rPr lang="en-US" sz="2000" dirty="0"/>
              <a:t>:</a:t>
            </a:r>
            <a:endParaRPr sz="20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666666"/>
                </a:solidFill>
              </a:rPr>
              <a:t>Graduate and Professional Student Senate. </a:t>
            </a:r>
            <a:r>
              <a:rPr lang="en-US" sz="2000" i="1" dirty="0">
                <a:solidFill>
                  <a:srgbClr val="666666"/>
                </a:solidFill>
              </a:rPr>
              <a:t>August Meeting</a:t>
            </a:r>
            <a:r>
              <a:rPr lang="en-US" sz="2000" dirty="0">
                <a:solidFill>
                  <a:srgbClr val="666666"/>
                </a:solidFill>
              </a:rPr>
              <a:t>. Observed by Wren </a:t>
            </a:r>
            <a:endParaRPr sz="2000" dirty="0">
              <a:solidFill>
                <a:srgbClr val="666666"/>
              </a:solidFill>
            </a:endParaRPr>
          </a:p>
          <a:p>
            <a:pPr marL="0" lvl="0" indent="45720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666666"/>
                </a:solidFill>
              </a:rPr>
              <a:t>Bouwman on 3 October 2025, Iowa State University.</a:t>
            </a:r>
            <a:endParaRPr sz="2000" dirty="0"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666666"/>
                </a:solidFill>
              </a:rPr>
              <a:t>[Name of organization]. [Title of meeting]. Observed by [your name] on [date observed], </a:t>
            </a:r>
            <a:endParaRPr sz="2000" dirty="0">
              <a:solidFill>
                <a:srgbClr val="666666"/>
              </a:solidFill>
            </a:endParaRPr>
          </a:p>
          <a:p>
            <a:pPr marL="0" lvl="0" indent="45720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666666"/>
                </a:solidFill>
              </a:rPr>
              <a:t>[location].</a:t>
            </a:r>
            <a:endParaRPr sz="2000" dirty="0"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3"/>
          <p:cNvSpPr txBox="1">
            <a:spLocks noGrp="1"/>
          </p:cNvSpPr>
          <p:nvPr>
            <p:ph type="title"/>
          </p:nvPr>
        </p:nvSpPr>
        <p:spPr>
          <a:xfrm>
            <a:off x="1187049" y="681050"/>
            <a:ext cx="10011300" cy="707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/>
              <a:t>Questions to ask for each source:</a:t>
            </a:r>
            <a:endParaRPr sz="4200"/>
          </a:p>
        </p:txBody>
      </p:sp>
      <p:sp>
        <p:nvSpPr>
          <p:cNvPr id="199" name="Google Shape;199;p23"/>
          <p:cNvSpPr txBox="1">
            <a:spLocks noGrp="1"/>
          </p:cNvSpPr>
          <p:nvPr>
            <p:ph type="body" idx="1"/>
          </p:nvPr>
        </p:nvSpPr>
        <p:spPr>
          <a:xfrm>
            <a:off x="1154950" y="1987300"/>
            <a:ext cx="10445700" cy="4032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/>
              <a:t>Does this present a new perspectives, enhance a perspective in another article, or repeat information?</a:t>
            </a:r>
            <a:endParaRPr sz="28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8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/>
              <a:t>Who is the audience? Experts? Laypersons?</a:t>
            </a:r>
            <a:endParaRPr sz="28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8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/>
              <a:t>What quotes provide especially strong evidence, either though research, statistics, or personal experiences?</a:t>
            </a:r>
            <a:endParaRPr sz="2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4"/>
          <p:cNvSpPr txBox="1">
            <a:spLocks noGrp="1"/>
          </p:cNvSpPr>
          <p:nvPr>
            <p:ph type="title"/>
          </p:nvPr>
        </p:nvSpPr>
        <p:spPr>
          <a:xfrm>
            <a:off x="1730000" y="525000"/>
            <a:ext cx="9385200" cy="1218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/>
              <a:t>Learning Activity:</a:t>
            </a:r>
            <a:endParaRPr sz="7200"/>
          </a:p>
        </p:txBody>
      </p:sp>
      <p:sp>
        <p:nvSpPr>
          <p:cNvPr id="205" name="Google Shape;205;p24"/>
          <p:cNvSpPr txBox="1">
            <a:spLocks noGrp="1"/>
          </p:cNvSpPr>
          <p:nvPr>
            <p:ph type="body" idx="1"/>
          </p:nvPr>
        </p:nvSpPr>
        <p:spPr>
          <a:xfrm>
            <a:off x="1916150" y="2096850"/>
            <a:ext cx="9385200" cy="4323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457200" lvl="0" indent="-3810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400"/>
              <a:t>a list of at least 3 sources in MLA format</a:t>
            </a:r>
            <a:endParaRPr sz="2400"/>
          </a:p>
          <a:p>
            <a:pPr marL="457200" lvl="0" indent="-3810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400"/>
              <a:t>Describe the different perspectives in 2-3 sentences each</a:t>
            </a:r>
            <a:endParaRPr sz="2400"/>
          </a:p>
          <a:p>
            <a:pPr marL="457200" lvl="0" indent="-3810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400"/>
              <a:t>One idea for your interview or observation</a:t>
            </a:r>
            <a:endParaRPr sz="2400"/>
          </a:p>
          <a:p>
            <a:pPr marL="457200" lvl="0" indent="-3810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400"/>
              <a:t>Three possible research questions for that source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656</Words>
  <Application>Microsoft Office PowerPoint</Application>
  <PresentationFormat>Widescreen</PresentationFormat>
  <Paragraphs>79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Lato</vt:lpstr>
      <vt:lpstr>Montserrat</vt:lpstr>
      <vt:lpstr>Focus</vt:lpstr>
      <vt:lpstr>How to Write Interview Questions</vt:lpstr>
      <vt:lpstr>How to Write Interview Questions</vt:lpstr>
      <vt:lpstr>How to Write Interview Questions</vt:lpstr>
      <vt:lpstr>How to Write Interview Questions</vt:lpstr>
      <vt:lpstr>Asking to observe a gathering…</vt:lpstr>
      <vt:lpstr>How to Prepare for Observations</vt:lpstr>
      <vt:lpstr>For both interviews and observations…</vt:lpstr>
      <vt:lpstr>Citing Interviews and Observations</vt:lpstr>
      <vt:lpstr>Questions to ask for each source:</vt:lpstr>
      <vt:lpstr>Learning Activity: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Wren Bouwman</cp:lastModifiedBy>
  <cp:revision>2</cp:revision>
  <dcterms:modified xsi:type="dcterms:W3CDTF">2025-10-31T00:29:36Z</dcterms:modified>
</cp:coreProperties>
</file>