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Lat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ato-bold.fntdata"/><Relationship Id="rId47" Type="http://schemas.openxmlformats.org/officeDocument/2006/relationships/font" Target="fonts/Lato-regular.fntdata"/><Relationship Id="rId49" Type="http://schemas.openxmlformats.org/officeDocument/2006/relationships/font" Target="fonts/La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font" Target="fonts/Roboto-regular.fntdata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La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a0da4ccc4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ba0da4ccc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c4224bece_0_5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c4224bece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c4224bec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c4224bec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f201fedef_1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f201fedef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f201fedef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f201fedef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f201fedef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f201fedef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f201fedef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f201fede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f201fedef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8f201fede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f201fedef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f201fede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f201fedef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f201fede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f201fedef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f201fedef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8f201fedef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f201fedef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f201fedef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8f201fedef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f201fedef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f201fedef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8f201fedef_1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f201fedef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f201fedef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8f201fedef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f201fedef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8f201fedef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f201fedef_1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8f201fedef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c4224bece_0_5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c4224bece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93c8a57f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93c8a57f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7a447ffe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7a447ff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f26a18b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f26a18b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f26a18bb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8f26a18b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 when we think about problems and solutions, we need to look at what resources are being strained and what resources aren’t being addressed.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f26a18bb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f26a18bb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f26a18bb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f26a18b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f26a18bb4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8f26a18bb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f26a18bb4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8f26a18bb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f26a18bb4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f26a18bb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f26a18bb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f26a18b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8f26a18bb4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8f26a18bb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a2aa7866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a2aa786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a2aa7866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a2aa786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a2aa7866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8a2aa786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8a2aa78665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8a2aa786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a2aa78665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a2aa7866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c4224bece_0_5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3c4224bece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10653104" y="6391838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561110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1154954" y="973668"/>
            <a:ext cx="8761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1154954" y="2603500"/>
            <a:ext cx="8825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139" name="Google Shape;139;p14"/>
          <p:cNvSpPr txBox="1"/>
          <p:nvPr>
            <p:ph idx="10" type="dt"/>
          </p:nvPr>
        </p:nvSpPr>
        <p:spPr>
          <a:xfrm>
            <a:off x="10653104" y="6391838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4"/>
          <p:cNvSpPr txBox="1"/>
          <p:nvPr>
            <p:ph idx="11" type="ftr"/>
          </p:nvPr>
        </p:nvSpPr>
        <p:spPr>
          <a:xfrm>
            <a:off x="561110" y="6391838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15"/>
          <p:cNvCxnSpPr/>
          <p:nvPr/>
        </p:nvCxnSpPr>
        <p:spPr>
          <a:xfrm>
            <a:off x="-96733" y="6503267"/>
            <a:ext cx="12383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5"/>
          <p:cNvCxnSpPr/>
          <p:nvPr/>
        </p:nvCxnSpPr>
        <p:spPr>
          <a:xfrm>
            <a:off x="-96733" y="365467"/>
            <a:ext cx="123831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OLweJucEPL0" TargetMode="External"/><Relationship Id="rId4" Type="http://schemas.openxmlformats.org/officeDocument/2006/relationships/image" Target="../media/image1.jpg"/><Relationship Id="rId5" Type="http://schemas.openxmlformats.org/officeDocument/2006/relationships/hyperlink" Target="https://youtu.be/OLweJucEPL0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g1i2REK7bVQ" TargetMode="External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/>
              <a:t>Research Project</a:t>
            </a:r>
            <a:endParaRPr sz="9600"/>
          </a:p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/>
              <a:t>Sources</a:t>
            </a:r>
            <a:endParaRPr sz="9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1730000" y="798575"/>
            <a:ext cx="5065200" cy="107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Agenda</a:t>
            </a:r>
            <a:endParaRPr sz="4800"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1730000" y="2188475"/>
            <a:ext cx="6231300" cy="3662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Working with Bias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/>
              <a:t>Non-Text Sources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000"/>
              <a:t>Conducting Interviews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1025325" y="1920292"/>
            <a:ext cx="6116100" cy="3017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Midterm </a:t>
            </a:r>
            <a:endParaRPr sz="6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Plus/Delta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Learning Activity:</a:t>
            </a:r>
            <a:endParaRPr sz="7200"/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701000" y="2090075"/>
            <a:ext cx="10607100" cy="4323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a list of at least 3 sources in MLA format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Describe the perspectives each source provides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One idea for your interview or observation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Three possible research questions for that source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1720750" y="895200"/>
            <a:ext cx="9385200" cy="88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sources with different perspectives</a:t>
            </a:r>
            <a:endParaRPr/>
          </a:p>
        </p:txBody>
      </p: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1767025" y="2206642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Add “benefits” or “critiques” to your general searches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Follow one source to another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Identify one or two “core sources” or “anchor sources”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Use keywords or phrases from those sources in your search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Ask for help!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Wren does this for her job, basically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Your interview/observation subject might have suggestions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Ask your peers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1730000" y="788525"/>
            <a:ext cx="9385200" cy="7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Scholarly Articles</a:t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1730000" y="2090083"/>
            <a:ext cx="9385200" cy="4260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Read </a:t>
            </a:r>
            <a:r>
              <a:rPr lang="en-US" sz="2300"/>
              <a:t>the</a:t>
            </a:r>
            <a:r>
              <a:rPr lang="en-US" sz="2300"/>
              <a:t> abstract to decide if it’s worth your time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Find the research questions, aims, or hypotheses to get a framework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Skip down to the Results and Discussion (last two sections) </a:t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AutoNum type="arabicPeriod"/>
            </a:pPr>
            <a:r>
              <a:rPr lang="en-US" sz="2300"/>
              <a:t>Try finding the following:</a:t>
            </a:r>
            <a:endParaRPr sz="2300"/>
          </a:p>
          <a:p>
            <a:pPr indent="-374650" lvl="1" marL="914400" rtl="0" algn="l">
              <a:spcBef>
                <a:spcPts val="1000"/>
              </a:spcBef>
              <a:spcAft>
                <a:spcPts val="0"/>
              </a:spcAft>
              <a:buSzPts val="2300"/>
              <a:buAutoNum type="alphaLcPeriod"/>
            </a:pPr>
            <a:r>
              <a:rPr lang="en-US" sz="2300"/>
              <a:t>What is the situation?</a:t>
            </a:r>
            <a:endParaRPr sz="2300"/>
          </a:p>
          <a:p>
            <a:pPr indent="-374650" lvl="1" marL="914400" rtl="0" algn="l">
              <a:spcBef>
                <a:spcPts val="1000"/>
              </a:spcBef>
              <a:spcAft>
                <a:spcPts val="0"/>
              </a:spcAft>
              <a:buSzPts val="2300"/>
              <a:buAutoNum type="alphaLcPeriod"/>
            </a:pPr>
            <a:r>
              <a:rPr lang="en-US" sz="2300"/>
              <a:t>What is the problem?</a:t>
            </a:r>
            <a:endParaRPr sz="2300"/>
          </a:p>
          <a:p>
            <a:pPr indent="-374650" lvl="1" marL="914400" rtl="0" algn="l">
              <a:spcBef>
                <a:spcPts val="1000"/>
              </a:spcBef>
              <a:spcAft>
                <a:spcPts val="1000"/>
              </a:spcAft>
              <a:buSzPts val="2300"/>
              <a:buAutoNum type="alphaLcPeriod"/>
            </a:pPr>
            <a:r>
              <a:rPr lang="en-US" sz="2300"/>
              <a:t>What is the solution?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7330900" y="1954650"/>
            <a:ext cx="3674400" cy="24804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2"/>
          <p:cNvSpPr txBox="1"/>
          <p:nvPr>
            <p:ph type="title"/>
          </p:nvPr>
        </p:nvSpPr>
        <p:spPr>
          <a:xfrm>
            <a:off x="1730000" y="525000"/>
            <a:ext cx="9385200" cy="846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about non-text sources?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1730000" y="1899125"/>
            <a:ext cx="4693800" cy="4461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Video Essays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Podcasts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Documentaries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News broadcasts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TedTalks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Infographics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6590525" y="2213775"/>
            <a:ext cx="3850200" cy="28227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Check for: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Char char="●"/>
            </a:pPr>
            <a:r>
              <a:rPr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Credibility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Char char="●"/>
            </a:pPr>
            <a:r>
              <a:rPr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Accuracy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Char char="●"/>
            </a:pPr>
            <a:r>
              <a:rPr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Reasonability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Char char="●"/>
            </a:pPr>
            <a:r>
              <a:rPr lang="en-US" sz="3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Support</a:t>
            </a:r>
            <a:endParaRPr sz="3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is is a re-upload of a video that was originally uploaded on Aug 26th 2017 but was blocked by the copyright bot&#10;Here's a link to the original: https://www.youtube.com/watch?v=m-2qHoEcQx0&#10;&#10;&#10;&#10;What does your favorite hero represent?&#10;&#10;I've been working on this video for months, hope you enjoy it!&#10;&#10;Twitter: https://twitter.com/Sideways440&#10;Pateron: https://www.patreon.com/Sideways440&#10;Twitch: https://www.twitch.tv/sideways440" id="192" name="Google Shape;192;p23" title="How a Superhero Theme Work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11188275" y="6391825"/>
            <a:ext cx="642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Link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et the man behind the music that changed our lives.&#10;&#10;Watch the trailer for Music By John Williams, an all-new documentary, streaming November 1 on @DisneyPlus." id="198" name="Google Shape;198;p24" title="Music By John Williams | Official Trailer | Disney+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63072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 rotWithShape="1">
          <a:blip r:embed="rId3">
            <a:alphaModFix/>
          </a:blip>
          <a:srcRect b="4089" l="0" r="40316" t="55301"/>
          <a:stretch/>
        </p:blipFill>
        <p:spPr>
          <a:xfrm>
            <a:off x="2863076" y="363998"/>
            <a:ext cx="3748350" cy="610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 b="47169" l="59988" r="0" t="12511"/>
          <a:stretch/>
        </p:blipFill>
        <p:spPr>
          <a:xfrm>
            <a:off x="6655275" y="16200"/>
            <a:ext cx="2819226" cy="680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/>
          <p:cNvPicPr preferRelativeResize="0"/>
          <p:nvPr/>
        </p:nvPicPr>
        <p:blipFill rotWithShape="1">
          <a:blip r:embed="rId3">
            <a:alphaModFix/>
          </a:blip>
          <a:srcRect b="4358" l="59366" r="0" t="52829"/>
          <a:stretch/>
        </p:blipFill>
        <p:spPr>
          <a:xfrm>
            <a:off x="9474493" y="0"/>
            <a:ext cx="271750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371600" y="228600"/>
            <a:ext cx="9601200" cy="768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Asking for an interview…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1371600" y="1072900"/>
            <a:ext cx="9601200" cy="550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Hello [Name],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I am writing a research paper for a class at Iowa State University and I would love the opportunity to interview you about your experience with [topic].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The interview would take no more than 30 minutes and I would be happy to meet with you [in-person/online]. Below are some times that would work best for me.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Please let me know if you would have time for this interview and, if so, what times work well for you. Thank you for your time!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Best,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[Your name]</a:t>
            </a:r>
            <a:endParaRPr sz="1900"/>
          </a:p>
        </p:txBody>
      </p:sp>
      <p:sp>
        <p:nvSpPr>
          <p:cNvPr id="214" name="Google Shape;214;p26"/>
          <p:cNvSpPr/>
          <p:nvPr/>
        </p:nvSpPr>
        <p:spPr>
          <a:xfrm>
            <a:off x="6720075" y="4990325"/>
            <a:ext cx="4646100" cy="1480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Lato"/>
                <a:ea typeface="Lato"/>
                <a:cs typeface="Lato"/>
                <a:sym typeface="Lato"/>
              </a:rPr>
              <a:t>Some people appreciate it when you provide the interview questions in advance!</a:t>
            </a:r>
            <a:endParaRPr sz="2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288750" y="278600"/>
            <a:ext cx="9601200" cy="798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Write Interview Questions</a:t>
            </a:r>
            <a:endParaRPr/>
          </a:p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704275" y="1436375"/>
            <a:ext cx="10967100" cy="506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Identify the focus of your interview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Brainstorm things you want to know about that topic</a:t>
            </a:r>
            <a:endParaRPr sz="2400"/>
          </a:p>
          <a:p>
            <a:pPr indent="-2095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What got them </a:t>
            </a:r>
            <a:r>
              <a:rPr lang="en-US" sz="2400"/>
              <a:t>involved in the topic?</a:t>
            </a:r>
            <a:endParaRPr sz="2400"/>
          </a:p>
          <a:p>
            <a:pPr indent="-2095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What challenges did they face?</a:t>
            </a:r>
            <a:endParaRPr sz="2400"/>
          </a:p>
          <a:p>
            <a:pPr indent="-2095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What changes are happening, good or bad?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Ask varied questions, but keep them open-ended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Ask for stories about their work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Let subjects correct misconceptions or provide opinions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-US" sz="2400"/>
              <a:t>Ask about the subject’s past and future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1371600" y="228600"/>
            <a:ext cx="9601200" cy="768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Asking to observe a gathering…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1371600" y="1072900"/>
            <a:ext cx="9601200" cy="550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Hello [Name],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I am writing a research paper for a class at Iowa State University over [topic] and I would love the opportunity to observe [organization, committee, etc.] during one of your meetings.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i="1" lang="en-US" sz="1900"/>
              <a:t>If possible, I would love to record the meeting for accurate note-taking. However, if this is not possible, I would be happy to just take notes based on what I’ve observed.</a:t>
            </a:r>
            <a:endParaRPr i="1"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Please let me know if I would be able to sit in on a meeting and, if so, when the best time to meet would be. Thank you for your time!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Best,</a:t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rPr lang="en-US" sz="1900"/>
              <a:t>[Your name]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288750" y="278600"/>
            <a:ext cx="9601200" cy="798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Prepare for Observations</a:t>
            </a:r>
            <a:endParaRPr/>
          </a:p>
        </p:txBody>
      </p:sp>
      <p:sp>
        <p:nvSpPr>
          <p:cNvPr id="235" name="Google Shape;235;p29"/>
          <p:cNvSpPr txBox="1"/>
          <p:nvPr>
            <p:ph idx="1" type="body"/>
          </p:nvPr>
        </p:nvSpPr>
        <p:spPr>
          <a:xfrm>
            <a:off x="704275" y="1436375"/>
            <a:ext cx="10967100" cy="5061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Create a system for note-taking </a:t>
            </a:r>
            <a:r>
              <a:rPr i="1" lang="en-US" sz="2400"/>
              <a:t>even if you’re recording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Make a list of questions you hope to answer through the observation</a:t>
            </a:r>
            <a:endParaRPr sz="2400"/>
          </a:p>
          <a:p>
            <a:pPr indent="-2095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Ex. “What do they see as most important?”</a:t>
            </a:r>
            <a:endParaRPr sz="2400"/>
          </a:p>
          <a:p>
            <a:pPr indent="-2095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Ex. “What initiatives are they working on right now?”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Observe reactions, tone, handouts, etc. as well as what’s directly stated</a:t>
            </a:r>
            <a:endParaRPr sz="2400"/>
          </a:p>
          <a:p>
            <a:pPr indent="-209550" lvl="1" marL="74295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-US" sz="2400"/>
              <a:t>Just make sure it’s clear this is your perception of what happened in the notes :)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1154950" y="973675"/>
            <a:ext cx="94986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both interviews and observations…</a:t>
            </a:r>
            <a:endParaRPr/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1154950" y="2149025"/>
            <a:ext cx="8825700" cy="387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1790" lvl="0" marL="457200" rtl="0" algn="l">
              <a:spcBef>
                <a:spcPts val="1000"/>
              </a:spcBef>
              <a:spcAft>
                <a:spcPts val="0"/>
              </a:spcAft>
              <a:buSzPts val="1940"/>
              <a:buChar char="●"/>
            </a:pPr>
            <a:r>
              <a:rPr lang="en-US" sz="2200"/>
              <a:t>Don’t be afraid to email with follow-up questions or clarifications</a:t>
            </a:r>
            <a:endParaRPr sz="2200"/>
          </a:p>
          <a:p>
            <a:pPr indent="-351790" lvl="0" marL="457200" rtl="0" algn="l">
              <a:spcBef>
                <a:spcPts val="1000"/>
              </a:spcBef>
              <a:spcAft>
                <a:spcPts val="0"/>
              </a:spcAft>
              <a:buSzPts val="1940"/>
              <a:buChar char="●"/>
            </a:pPr>
            <a:r>
              <a:rPr lang="en-US" sz="2200"/>
              <a:t>Make sure you email one last time when you’re done, thanking them for their time</a:t>
            </a:r>
            <a:endParaRPr sz="2200"/>
          </a:p>
          <a:p>
            <a:pPr indent="-368300" lvl="1" marL="914400" rtl="0" algn="l">
              <a:spcBef>
                <a:spcPts val="1000"/>
              </a:spcBef>
              <a:spcAft>
                <a:spcPts val="0"/>
              </a:spcAft>
              <a:buSzPts val="2200"/>
              <a:buChar char="○"/>
            </a:pPr>
            <a:r>
              <a:rPr i="1" lang="en-US" sz="2200"/>
              <a:t>Optional: Send them your final paper in the thank you email so they can see where they fit into the project</a:t>
            </a:r>
            <a:endParaRPr i="1" sz="2200"/>
          </a:p>
          <a:p>
            <a:pPr indent="-351790" lvl="0" marL="457200" rtl="0" algn="l">
              <a:spcBef>
                <a:spcPts val="1000"/>
              </a:spcBef>
              <a:spcAft>
                <a:spcPts val="1000"/>
              </a:spcAft>
              <a:buSzPts val="1940"/>
              <a:buChar char="●"/>
            </a:pPr>
            <a:r>
              <a:rPr lang="en-US" sz="2200"/>
              <a:t>Only cite direct quotes if you’re confident they’re accurate, otherwise paraphrase (still needs a parenthetical)</a:t>
            </a:r>
            <a:endParaRPr i="1"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/>
          <p:nvPr>
            <p:ph type="title"/>
          </p:nvPr>
        </p:nvSpPr>
        <p:spPr>
          <a:xfrm>
            <a:off x="1154954" y="233243"/>
            <a:ext cx="87615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Citing Interviews and Observations</a:t>
            </a:r>
            <a:endParaRPr/>
          </a:p>
        </p:txBody>
      </p:sp>
      <p:sp>
        <p:nvSpPr>
          <p:cNvPr id="247" name="Google Shape;247;p31"/>
          <p:cNvSpPr txBox="1"/>
          <p:nvPr>
            <p:ph idx="1" type="body"/>
          </p:nvPr>
        </p:nvSpPr>
        <p:spPr>
          <a:xfrm>
            <a:off x="1154950" y="1084675"/>
            <a:ext cx="9961200" cy="55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Interview</a:t>
            </a:r>
            <a:r>
              <a:rPr lang="en-US" sz="2000"/>
              <a:t>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Smith, Jane. Personal interview. 19 May 2024.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[Name of person being interviewed]. Personal interview. [Date interview was </a:t>
            </a:r>
            <a:endParaRPr sz="2000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conducted].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* The date should be the date of their response, if completed asynchronously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Observation</a:t>
            </a:r>
            <a:r>
              <a:rPr lang="en-US" sz="2000"/>
              <a:t>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Graduate and Professional Student Senate. </a:t>
            </a:r>
            <a:r>
              <a:rPr i="1" lang="en-US" sz="2000"/>
              <a:t>August Meeting</a:t>
            </a:r>
            <a:r>
              <a:rPr lang="en-US" sz="2000"/>
              <a:t>. Observed by Wren </a:t>
            </a:r>
            <a:endParaRPr sz="2000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Bouwman on 3 October 2025, Iowa State University.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[Name of organization]. [Title of meeting]. Observed by [your name] on [date observed], </a:t>
            </a:r>
            <a:endParaRPr sz="2000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[location].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type="title"/>
          </p:nvPr>
        </p:nvSpPr>
        <p:spPr>
          <a:xfrm>
            <a:off x="1187049" y="681050"/>
            <a:ext cx="10011300" cy="707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Questions to ask for each source:</a:t>
            </a:r>
            <a:endParaRPr sz="4200"/>
          </a:p>
        </p:txBody>
      </p:sp>
      <p:sp>
        <p:nvSpPr>
          <p:cNvPr id="253" name="Google Shape;253;p32"/>
          <p:cNvSpPr txBox="1"/>
          <p:nvPr>
            <p:ph idx="1" type="body"/>
          </p:nvPr>
        </p:nvSpPr>
        <p:spPr>
          <a:xfrm>
            <a:off x="1154950" y="1987300"/>
            <a:ext cx="10445700" cy="403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Does this present a new perspectives, enhance a perspective in another article, or repeat information?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Who is the audience? Experts? Laypersons?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What quotes provide especially strong evidence, either though research, statistics, or personal experiences?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/>
              <a:t>Learning Activity:</a:t>
            </a:r>
            <a:endParaRPr sz="7200"/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701000" y="2090075"/>
            <a:ext cx="10607100" cy="4323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a list of at least 3 sources in MLA format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Describe the different perspectives in 2-3 sentences each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One idea for your interview or observation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US" sz="3600"/>
              <a:t>Three possible research questions for that source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Thursday Agenda: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Overview of Community Capital Framework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Worksheet - Group Work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Close Reading of Emery &amp; Flora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Worksheet - Individual Work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1098475" y="1493528"/>
            <a:ext cx="6116100" cy="4279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When you think about what makes a community strong or successful, what comes to mind?</a:t>
            </a:r>
            <a:endParaRPr sz="4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/>
          <p:nvPr/>
        </p:nvSpPr>
        <p:spPr>
          <a:xfrm>
            <a:off x="8467850" y="2001150"/>
            <a:ext cx="3408900" cy="28557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Lato"/>
                <a:ea typeface="Lato"/>
                <a:cs typeface="Lato"/>
                <a:sym typeface="Lato"/>
              </a:rPr>
              <a:t>We’ll follow along with Part 1 of your worksheet!</a:t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Natural Capital</a:t>
            </a:r>
            <a:endParaRPr/>
          </a:p>
        </p:txBody>
      </p:sp>
      <p:sp>
        <p:nvSpPr>
          <p:cNvPr id="282" name="Google Shape;282;p37"/>
          <p:cNvSpPr txBox="1"/>
          <p:nvPr>
            <p:ph idx="1" type="body"/>
          </p:nvPr>
        </p:nvSpPr>
        <p:spPr>
          <a:xfrm>
            <a:off x="1730000" y="1914300"/>
            <a:ext cx="96879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 Environment, land, water, air, and natural resources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Cotton fields, water for dyeing and washing textiles, synthetic materials derived from petroleum, farmland used for textile crops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Cultural Capital</a:t>
            </a:r>
            <a:endParaRPr/>
          </a:p>
        </p:txBody>
      </p:sp>
      <p:sp>
        <p:nvSpPr>
          <p:cNvPr id="288" name="Google Shape;288;p38"/>
          <p:cNvSpPr txBox="1"/>
          <p:nvPr>
            <p:ph idx="1" type="body"/>
          </p:nvPr>
        </p:nvSpPr>
        <p:spPr>
          <a:xfrm>
            <a:off x="1730000" y="1914300"/>
            <a:ext cx="94500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Values, traditions, heritage, ways of knowing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Global trends; influencer culture and fashion cycles; aesthetic values tied to social status and identity; traditions of dress and beauty standards.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 Capital</a:t>
            </a:r>
            <a:endParaRPr/>
          </a:p>
        </p:txBody>
      </p:sp>
      <p:sp>
        <p:nvSpPr>
          <p:cNvPr id="294" name="Google Shape;294;p39"/>
          <p:cNvSpPr txBox="1"/>
          <p:nvPr>
            <p:ph idx="1" type="body"/>
          </p:nvPr>
        </p:nvSpPr>
        <p:spPr>
          <a:xfrm>
            <a:off x="1730000" y="1914300"/>
            <a:ext cx="91575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Education, skills, health, leadership, creativity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Laborers’ skills in sewing and garment assembly; designers’ creativity and technical knowledge; marketing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Social Capital</a:t>
            </a:r>
            <a:endParaRPr/>
          </a:p>
        </p:txBody>
      </p:sp>
      <p:sp>
        <p:nvSpPr>
          <p:cNvPr id="300" name="Google Shape;300;p40"/>
          <p:cNvSpPr txBox="1"/>
          <p:nvPr>
            <p:ph idx="1" type="body"/>
          </p:nvPr>
        </p:nvSpPr>
        <p:spPr>
          <a:xfrm>
            <a:off x="1730000" y="1914300"/>
            <a:ext cx="94683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Access to power, voice in decision-making, influence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Networks between suppliers, manufacturers, and retailers; relationships between fashion influencers and followers; community groups that share, swap, or donate clothes; trust among brand consumers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Political Capital</a:t>
            </a:r>
            <a:endParaRPr/>
          </a:p>
        </p:txBody>
      </p:sp>
      <p:sp>
        <p:nvSpPr>
          <p:cNvPr id="306" name="Google Shape;306;p41"/>
          <p:cNvSpPr txBox="1"/>
          <p:nvPr>
            <p:ph idx="1" type="body"/>
          </p:nvPr>
        </p:nvSpPr>
        <p:spPr>
          <a:xfrm>
            <a:off x="1730000" y="1914300"/>
            <a:ext cx="92856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Access to power, voice in decision-making, influence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Trade policies regulating imports and exports; labor laws; environmental regulations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Financial Capital</a:t>
            </a:r>
            <a:endParaRPr/>
          </a:p>
        </p:txBody>
      </p:sp>
      <p:sp>
        <p:nvSpPr>
          <p:cNvPr id="312" name="Google Shape;312;p42"/>
          <p:cNvSpPr txBox="1"/>
          <p:nvPr>
            <p:ph idx="1" type="body"/>
          </p:nvPr>
        </p:nvSpPr>
        <p:spPr>
          <a:xfrm>
            <a:off x="1730000" y="1914300"/>
            <a:ext cx="92856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Money, investments, credit, infrastructure funding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Corporate profits; investor funding for major brands; consumer spending on clothing; global economic systems that keep prices low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1730000" y="525000"/>
            <a:ext cx="5065200" cy="138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Capital</a:t>
            </a:r>
            <a:endParaRPr/>
          </a:p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1730000" y="1914300"/>
            <a:ext cx="9395100" cy="393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Physical infrastructure (roads, buildings, technology, housing)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Ex. </a:t>
            </a:r>
            <a:r>
              <a:rPr b="1" i="1" lang="en-US" sz="3000">
                <a:latin typeface="Arial"/>
                <a:ea typeface="Arial"/>
                <a:cs typeface="Arial"/>
                <a:sym typeface="Arial"/>
              </a:rPr>
              <a:t>Fast Fashion: </a:t>
            </a:r>
            <a:r>
              <a:rPr i="1" lang="en-US" sz="3000">
                <a:latin typeface="Arial"/>
                <a:ea typeface="Arial"/>
                <a:cs typeface="Arial"/>
                <a:sym typeface="Arial"/>
              </a:rPr>
              <a:t>Factories, warehouses, ports, and shipping infrastructure; retail stores and online sales platforms; textile mills; machinery for production; digital infrastructure that enables global e-commerce</a:t>
            </a:r>
            <a:endParaRPr i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type="title"/>
          </p:nvPr>
        </p:nvSpPr>
        <p:spPr>
          <a:xfrm>
            <a:off x="937575" y="1691532"/>
            <a:ext cx="6116100" cy="484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does your research come into play?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Let’s see CCF in action!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groups of 2-3</a:t>
            </a:r>
            <a:endParaRPr/>
          </a:p>
        </p:txBody>
      </p:sp>
      <p:sp>
        <p:nvSpPr>
          <p:cNvPr id="329" name="Google Shape;329;p45"/>
          <p:cNvSpPr txBox="1"/>
          <p:nvPr>
            <p:ph idx="1" type="body"/>
          </p:nvPr>
        </p:nvSpPr>
        <p:spPr>
          <a:xfrm>
            <a:off x="1408750" y="1568950"/>
            <a:ext cx="10246800" cy="4887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Open the file in the Week 7 Module called “EmeryFloraSpiralingUp2006”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Give each group member a role:</a:t>
            </a:r>
            <a:endParaRPr sz="2400"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Cartographer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Evaluator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Connector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Practice your skimming skills and take 5-10 minutes to read the article. 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400"/>
              <a:t>Discuss your roles (on the next slide)</a:t>
            </a:r>
            <a:endParaRPr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/>
          <p:nvPr/>
        </p:nvSpPr>
        <p:spPr>
          <a:xfrm>
            <a:off x="8232600" y="0"/>
            <a:ext cx="3959400" cy="6858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46"/>
          <p:cNvSpPr/>
          <p:nvPr/>
        </p:nvSpPr>
        <p:spPr>
          <a:xfrm>
            <a:off x="4116288" y="0"/>
            <a:ext cx="3959400" cy="685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" name="Google Shape;336;p46"/>
          <p:cNvSpPr/>
          <p:nvPr/>
        </p:nvSpPr>
        <p:spPr>
          <a:xfrm>
            <a:off x="0" y="0"/>
            <a:ext cx="39594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" name="Google Shape;337;p46"/>
          <p:cNvSpPr txBox="1"/>
          <p:nvPr/>
        </p:nvSpPr>
        <p:spPr>
          <a:xfrm>
            <a:off x="242275" y="203200"/>
            <a:ext cx="3522000" cy="6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🗺️ The Cartographer</a:t>
            </a:r>
            <a:endParaRPr b="1" i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Your Goal:</a:t>
            </a:r>
            <a:r>
              <a:rPr lang="en-US">
                <a:solidFill>
                  <a:schemeClr val="dk1"/>
                </a:solidFill>
              </a:rPr>
              <a:t> Identify and describe the seven community capitals and how they interact in the case study.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While You Read: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Highlight where each capital is defined (natural, cultural, human, social, political, financial, built).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Note examples from Valley County that show these capitals working together.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Sketch or describe the “spiraling-up” model. How does one capital strengthen another?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After Reading: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Which capital seems most central to the authors’ story?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How does social capital serve as a starting point for change?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8" name="Google Shape;338;p46"/>
          <p:cNvSpPr txBox="1"/>
          <p:nvPr/>
        </p:nvSpPr>
        <p:spPr>
          <a:xfrm>
            <a:off x="4334550" y="203200"/>
            <a:ext cx="3496200" cy="6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🧭 The Evaluator</a:t>
            </a:r>
            <a:endParaRPr b="1" i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Your Goal:</a:t>
            </a:r>
            <a:r>
              <a:rPr lang="en-US">
                <a:solidFill>
                  <a:schemeClr val="dk2"/>
                </a:solidFill>
              </a:rPr>
              <a:t> Examine how the authors make and support their claims about community transformation.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</a:rPr>
              <a:t>While You Read: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Underline phrases that describe </a:t>
            </a:r>
            <a:r>
              <a:rPr i="1" lang="en-US">
                <a:solidFill>
                  <a:schemeClr val="dk2"/>
                </a:solidFill>
              </a:rPr>
              <a:t>evidence</a:t>
            </a:r>
            <a:r>
              <a:rPr lang="en-US">
                <a:solidFill>
                  <a:schemeClr val="dk2"/>
                </a:solidFill>
              </a:rPr>
              <a:t> (interviews, data, field observations).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Identify the main argument. What are they claiming about “spiraling up”?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Notice how they organize their analysis of the HomeTown Competitiveness program.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 </a:t>
            </a:r>
            <a:r>
              <a:rPr b="1" lang="en-US">
                <a:solidFill>
                  <a:schemeClr val="dk2"/>
                </a:solidFill>
              </a:rPr>
              <a:t>After Reading: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How do they use the CCF to explain </a:t>
            </a:r>
            <a:r>
              <a:rPr i="1" lang="en-US">
                <a:solidFill>
                  <a:schemeClr val="dk2"/>
                </a:solidFill>
              </a:rPr>
              <a:t>why</a:t>
            </a:r>
            <a:r>
              <a:rPr lang="en-US">
                <a:solidFill>
                  <a:schemeClr val="dk2"/>
                </a:solidFill>
              </a:rPr>
              <a:t> change happened, not just </a:t>
            </a:r>
            <a:r>
              <a:rPr i="1" lang="en-US">
                <a:solidFill>
                  <a:schemeClr val="dk2"/>
                </a:solidFill>
              </a:rPr>
              <a:t>that</a:t>
            </a:r>
            <a:r>
              <a:rPr lang="en-US">
                <a:solidFill>
                  <a:schemeClr val="dk2"/>
                </a:solidFill>
              </a:rPr>
              <a:t> it did?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-US">
                <a:solidFill>
                  <a:schemeClr val="dk2"/>
                </a:solidFill>
              </a:rPr>
              <a:t>What makes their argument credible or convincing?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339" name="Google Shape;339;p46"/>
          <p:cNvSpPr txBox="1"/>
          <p:nvPr/>
        </p:nvSpPr>
        <p:spPr>
          <a:xfrm>
            <a:off x="8427725" y="203200"/>
            <a:ext cx="3496200" cy="6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🌍 The Connector</a:t>
            </a:r>
            <a:endParaRPr b="1" i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Your Goal:</a:t>
            </a:r>
            <a:r>
              <a:rPr lang="en-US" sz="1500">
                <a:solidFill>
                  <a:schemeClr val="dk1"/>
                </a:solidFill>
              </a:rPr>
              <a:t> Connect the ideas in the article to a contemporary issue or your own research topic.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</a:t>
            </a:r>
            <a:r>
              <a:rPr b="1" lang="en-US" sz="1500">
                <a:solidFill>
                  <a:schemeClr val="dk1"/>
                </a:solidFill>
              </a:rPr>
              <a:t>While You Read: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Highlight examples that remind you of other community challenges (e.g., housing, sustainability, education).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Think about “spiraling up” and “spiraling down”. Where do you see those patterns today?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After Reading: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Which capitals seem most relevant to your research topic?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How might you use the CCF to analyze the systems or relationships shaping your issue?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>
            <p:ph type="title"/>
          </p:nvPr>
        </p:nvSpPr>
        <p:spPr>
          <a:xfrm>
            <a:off x="1098475" y="1138380"/>
            <a:ext cx="6116100" cy="482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your research project, consider how you can use capitals to talk about spiraling up or spiraling down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/>
          <p:nvPr/>
        </p:nvSpPr>
        <p:spPr>
          <a:xfrm>
            <a:off x="232225" y="183100"/>
            <a:ext cx="1015500" cy="9654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0" name="Google Shape;350;p48"/>
          <p:cNvSpPr txBox="1"/>
          <p:nvPr/>
        </p:nvSpPr>
        <p:spPr>
          <a:xfrm>
            <a:off x="1660125" y="183100"/>
            <a:ext cx="9241200" cy="12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Writing Check-in</a:t>
            </a:r>
            <a:endParaRPr sz="60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1" name="Google Shape;351;p48"/>
          <p:cNvSpPr txBox="1"/>
          <p:nvPr/>
        </p:nvSpPr>
        <p:spPr>
          <a:xfrm>
            <a:off x="2062375" y="1701500"/>
            <a:ext cx="8959500" cy="45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By now you should know: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Your topic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few useful sources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Language to talk about problems and solutions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Which means you can start: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Reading sources in-depth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Taking notes on similarities and differences between sources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Lato"/>
              <a:buChar char="●"/>
            </a:pPr>
            <a:r>
              <a:rPr lang="en-US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Contacting your local sources for observations/interviews</a:t>
            </a:r>
            <a:endParaRPr sz="2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week:</a:t>
            </a:r>
            <a:endParaRPr/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Comparing and Contrasting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400"/>
              <a:t>Organizing your argument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400"/>
              <a:t>Reminder: Week 9 (October 21 and 23) will be asynchronous)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