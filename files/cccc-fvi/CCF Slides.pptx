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f26a18b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f26a18b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f26a18bb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f26a18b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when we think about problems and solutions, we need to look at what resources are being strained and what resources aren’t being addressed.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8503e601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8503e60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f26a18bb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f26a18bb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f26a18bb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f26a18b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f26a18bb4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f26a18bb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f26a18bb4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f26a18bb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f26a18bb4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f26a18bb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f26a18bb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f26a18bb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f26a18bb4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f26a18bb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a2aa7866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a2aa786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a2aa7866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a2aa786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a2aa7866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a2aa7866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a2aa78665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a2aa7866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a2aa78665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a2aa7866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10653104" y="6391838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561110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0" type="dt"/>
          </p:nvPr>
        </p:nvSpPr>
        <p:spPr>
          <a:xfrm>
            <a:off x="10653104" y="6391838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4"/>
          <p:cNvSpPr txBox="1"/>
          <p:nvPr>
            <p:ph idx="11" type="ftr"/>
          </p:nvPr>
        </p:nvSpPr>
        <p:spPr>
          <a:xfrm>
            <a:off x="561110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15"/>
          <p:cNvCxnSpPr/>
          <p:nvPr/>
        </p:nvCxnSpPr>
        <p:spPr>
          <a:xfrm>
            <a:off x="-96733" y="6503267"/>
            <a:ext cx="12383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5"/>
          <p:cNvCxnSpPr/>
          <p:nvPr/>
        </p:nvCxnSpPr>
        <p:spPr>
          <a:xfrm>
            <a:off x="-96733" y="365467"/>
            <a:ext cx="12383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098475" y="1493528"/>
            <a:ext cx="6116100" cy="4279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When you think about what makes a community strong or successful, what comes to mind?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8467850" y="2001150"/>
            <a:ext cx="3408900" cy="2855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ato"/>
                <a:ea typeface="Lato"/>
                <a:cs typeface="Lato"/>
                <a:sym typeface="Lato"/>
              </a:rPr>
              <a:t>We’ll follow along with Part 1 of your worksheet!</a:t>
            </a:r>
            <a:endParaRPr sz="3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875300" y="1710140"/>
            <a:ext cx="6116100" cy="3437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In a group of 2-3, choose one local institution, resource, or problem</a:t>
            </a:r>
            <a:endParaRPr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Natural Capital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1730000" y="1352675"/>
            <a:ext cx="9687900" cy="4808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 Environment, land, water, air, and natural resources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Cotton fields, water for dyeing and washing textiles, synthetic materials derived from petroleum, farmland used for textile crops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US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are some natural capitals that exist in your group’s example?</a:t>
            </a:r>
            <a:endParaRPr i="1" sz="3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Cultural Capital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1730000" y="1318850"/>
            <a:ext cx="9450000" cy="5207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Values, traditions, heritage, ways of knowing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Global trends; influencer culture and fashion cycles; aesthetic values tied to social status and identity; traditions of dress and beauty standards.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US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are some cultural capitals that exist in your group’s example?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Capital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1730000" y="1305325"/>
            <a:ext cx="9157500" cy="528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Education, skills, health, leadership, creativity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Laborers’ skills in sewing and garment assembly; designers’ creativity and technical knowledge; marketing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US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are some human capitals that exist in your group’s example?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Social Capital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1730000" y="1291800"/>
            <a:ext cx="9468300" cy="5336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Access to power, voice in decision-making, influence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Networks between suppliers, manufacturers, and retailers; relationships between fashion influencers and followers; community groups that share, swap, or donate clothes; trust among brand consumers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US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are some social capitals that exist in your group’s example?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Political Capital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1730000" y="1332650"/>
            <a:ext cx="9285600" cy="520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Access to power, voice in decision-making, influence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Trade policies regulating imports and exports; labor laws; environmental regulations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US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are some political capitals that exist in your group’s example?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Financial Capital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1730000" y="1318850"/>
            <a:ext cx="9285600" cy="525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Money, investments, credit, infrastructure funding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Corporate profits; investor funding for major brands; consumer spending on clothing; global economic systems that keep prices low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US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are some financial capitals that exist in your group’s example?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 Capital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1730000" y="1372950"/>
            <a:ext cx="9395100" cy="518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Physical infrastructure (roads, buildings, technology, housing)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Factories, warehouses, ports, and shipping infrastructure; retail stores; machinery for production; digital infrastructure that enables global e-commerce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US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are some natural capitals that exist in your group’s example?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937575" y="1691532"/>
            <a:ext cx="6116100" cy="484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does your research come into play?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see CCF in action!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groups of 2-3</a:t>
            </a:r>
            <a:endParaRPr/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1408750" y="1568950"/>
            <a:ext cx="10246800" cy="4887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Open the file in the Week 7 Module called “EmeryFloraSpiralingUp2006”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400"/>
              <a:t>Give each group member a role: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Cartographer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Evaluator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Connector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400"/>
              <a:t>Practice your skimming skills and take 10 minutes to read the article. 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400"/>
              <a:t>Discuss your roles (on the next slide)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/>
          <p:nvPr/>
        </p:nvSpPr>
        <p:spPr>
          <a:xfrm>
            <a:off x="8232600" y="0"/>
            <a:ext cx="39594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4116288" y="0"/>
            <a:ext cx="3959400" cy="6858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0" y="0"/>
            <a:ext cx="39594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242275" y="203200"/>
            <a:ext cx="3522000" cy="6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🗺️ The Cartographer</a:t>
            </a:r>
            <a:endParaRPr b="1"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Your Goal:</a:t>
            </a:r>
            <a:r>
              <a:rPr lang="en-US" sz="1600">
                <a:solidFill>
                  <a:schemeClr val="dk1"/>
                </a:solidFill>
              </a:rPr>
              <a:t> Identify and describe the seven community capitals and how they interact in the case study.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While You Read: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Highlight where each capital is defined (natural, cultural, human, social, political, financial, built).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Note examples from Valley County that show these capitals working together.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After Reading: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Which capital seems most central to the authors’ story?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How does social capital serve as a starting point for change?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334550" y="203200"/>
            <a:ext cx="3496200" cy="6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🧭 The Evaluator</a:t>
            </a:r>
            <a:endParaRPr b="1" i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Your Goal:</a:t>
            </a:r>
            <a:r>
              <a:rPr lang="en-US" sz="1600">
                <a:solidFill>
                  <a:schemeClr val="dk2"/>
                </a:solidFill>
              </a:rPr>
              <a:t> Examine how the authors support their claims about community transformation.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While You Read: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Underline phrases that describe </a:t>
            </a:r>
            <a:r>
              <a:rPr i="1" lang="en-US" sz="1600">
                <a:solidFill>
                  <a:schemeClr val="dk2"/>
                </a:solidFill>
              </a:rPr>
              <a:t>evidence.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Identify the main argument. What are they claiming about “spiraling up”?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 </a:t>
            </a:r>
            <a:r>
              <a:rPr b="1" lang="en-US" sz="1600">
                <a:solidFill>
                  <a:schemeClr val="dk2"/>
                </a:solidFill>
              </a:rPr>
              <a:t>After Reading: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How do they use the CCF to explain </a:t>
            </a:r>
            <a:r>
              <a:rPr i="1" lang="en-US" sz="1600">
                <a:solidFill>
                  <a:schemeClr val="dk2"/>
                </a:solidFill>
              </a:rPr>
              <a:t>why</a:t>
            </a:r>
            <a:r>
              <a:rPr lang="en-US" sz="1600">
                <a:solidFill>
                  <a:schemeClr val="dk2"/>
                </a:solidFill>
              </a:rPr>
              <a:t> change happened, not just </a:t>
            </a:r>
            <a:r>
              <a:rPr i="1" lang="en-US" sz="1600">
                <a:solidFill>
                  <a:schemeClr val="dk2"/>
                </a:solidFill>
              </a:rPr>
              <a:t>that</a:t>
            </a:r>
            <a:r>
              <a:rPr lang="en-US" sz="1600">
                <a:solidFill>
                  <a:schemeClr val="dk2"/>
                </a:solidFill>
              </a:rPr>
              <a:t> it did?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What makes their argument credible or convincing?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8427725" y="203200"/>
            <a:ext cx="3496200" cy="6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🌍 The Connector</a:t>
            </a:r>
            <a:endParaRPr b="1"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Your Goal:</a:t>
            </a:r>
            <a:r>
              <a:rPr lang="en-US" sz="1600">
                <a:solidFill>
                  <a:schemeClr val="dk1"/>
                </a:solidFill>
              </a:rPr>
              <a:t> Connect the ideas in the article to a contemporary issue or your own research topic.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While You Read: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Highlight examples that remind you of other community challenges.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Think about “spiraling up” and “spiraling down”. Where do you see those patterns today?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After Reading: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Which capitals seem most relevant to your research topic?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How might you use the CCF to analyze the systems or relationships shaping your issue?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1098475" y="1138380"/>
            <a:ext cx="6116100" cy="482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your research project, consider how you can use capitals to talk about spiraling up or spiraling down</a:t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8589600" y="154775"/>
            <a:ext cx="3408900" cy="1596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ato"/>
                <a:ea typeface="Lato"/>
                <a:cs typeface="Lato"/>
                <a:sym typeface="Lato"/>
              </a:rPr>
              <a:t>Part 2 of your Worksheet!</a:t>
            </a:r>
            <a:endParaRPr sz="3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>
            <a:off x="232225" y="183100"/>
            <a:ext cx="1015500" cy="965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1660125" y="183100"/>
            <a:ext cx="9241200" cy="12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Writing Check-in</a:t>
            </a:r>
            <a:endParaRPr sz="60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2062375" y="1701500"/>
            <a:ext cx="8959500" cy="45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now you should know: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Your topic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few useful sources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Language to talk about problems and solutions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Which means you can start: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Reading sources in-depth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Taking notes on similarities and differences between sources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Contacting your local sources for observations/interviews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